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11" Type="http://schemas.openxmlformats.org/officeDocument/2006/relationships/slide" Target="slides/slide6.xml"/><Relationship Id="rId22" Type="http://schemas.openxmlformats.org/officeDocument/2006/relationships/slide" Target="slides/slide17.xml"/><Relationship Id="rId10" Type="http://schemas.openxmlformats.org/officeDocument/2006/relationships/slide" Target="slides/slide5.xml"/><Relationship Id="rId21" Type="http://schemas.openxmlformats.org/officeDocument/2006/relationships/slide" Target="slides/slide16.xml"/><Relationship Id="rId13" Type="http://schemas.openxmlformats.org/officeDocument/2006/relationships/slide" Target="slides/slide8.xml"/><Relationship Id="rId24" Type="http://schemas.openxmlformats.org/officeDocument/2006/relationships/slide" Target="slides/slide19.xml"/><Relationship Id="rId12" Type="http://schemas.openxmlformats.org/officeDocument/2006/relationships/slide" Target="slides/slide7.xml"/><Relationship Id="rId23" Type="http://schemas.openxmlformats.org/officeDocument/2006/relationships/slide" Target="slides/slide18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g3efe027c5f2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g3efe027c5f2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efe027c5f2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efe027c5f2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g3efe027c5f2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" name="Google Shape;74;g3efe027c5f2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efe027c5f2_4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efe027c5f2_4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efe027c5f2_4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efe027c5f2_4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efe027c5f2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efe027c5f2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efe027c5f2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g3efe027c5f2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efe027c5f2_0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efe027c5f2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3efe027c5f2_5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3efe027c5f2_5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efe027c5f2_5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efe027c5f2_5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efe027c5f2_5_5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efe027c5f2_5_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efe027c5f2_5_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efe027c5f2_5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efe027c5f2_5_1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" name="Google Shape;154;g3efe027c5f2_5_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efe027c5f2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3efe027c5f2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efe027c5f2_0_1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efe027c5f2_0_1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efe027c5f2_0_1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3efe027c5f2_0_1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g3efe027c5f2_0_1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1" name="Google Shape;181;g3efe027c5f2_0_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efe027c5f2_0_1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7" name="Google Shape;187;g3efe027c5f2_0_1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8419100" y="1152475"/>
            <a:ext cx="413100" cy="3416400"/>
          </a:xfrm>
          <a:prstGeom prst="rect">
            <a:avLst/>
          </a:prstGeom>
          <a:solidFill>
            <a:schemeClr val="lt2"/>
          </a:solidFill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l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0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title"/>
          </p:nvPr>
        </p:nvSpPr>
        <p:spPr>
          <a:xfrm>
            <a:off x="311700" y="1463825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1800"/>
              </a:spcBef>
              <a:spcAft>
                <a:spcPts val="400"/>
              </a:spcAft>
              <a:buNone/>
            </a:pPr>
            <a:r>
              <a:rPr lang="el"/>
              <a:t>Τεχνητή Νοημοσύνη ΙΙ</a:t>
            </a:r>
            <a:endParaRPr/>
          </a:p>
        </p:txBody>
      </p:sp>
      <p:sp>
        <p:nvSpPr>
          <p:cNvPr id="55" name="Google Shape;55;p13"/>
          <p:cNvSpPr txBox="1"/>
          <p:nvPr/>
        </p:nvSpPr>
        <p:spPr>
          <a:xfrm>
            <a:off x="2218500" y="2647575"/>
            <a:ext cx="4707000" cy="9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l" sz="1800">
                <a:solidFill>
                  <a:schemeClr val="dk2"/>
                </a:solidFill>
              </a:rPr>
              <a:t>Πρόβλημα χωροθέτησης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l" sz="1800">
                <a:solidFill>
                  <a:schemeClr val="dk2"/>
                </a:solidFill>
              </a:rPr>
              <a:t>αεροδρομίων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56" name="Google Shape;56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3945050"/>
            <a:ext cx="1198450" cy="1198450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13"/>
          <p:cNvSpPr txBox="1"/>
          <p:nvPr/>
        </p:nvSpPr>
        <p:spPr>
          <a:xfrm>
            <a:off x="4234400" y="3594575"/>
            <a:ext cx="4909500" cy="154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l">
                <a:solidFill>
                  <a:schemeClr val="dk1"/>
                </a:solidFill>
              </a:rPr>
              <a:t>Μιχαήλ Πέππας 1101011</a:t>
            </a:r>
            <a:endParaRPr>
              <a:solidFill>
                <a:schemeClr val="dk1"/>
              </a:solidFill>
            </a:endParaRPr>
          </a:p>
          <a:p>
            <a:pPr indent="0" lvl="0" marL="0" rtl="0" algn="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l">
                <a:solidFill>
                  <a:schemeClr val="dk1"/>
                </a:solidFill>
              </a:rPr>
              <a:t>Γεώργιος Προυσιώτης 1101037</a:t>
            </a:r>
            <a:endParaRPr>
              <a:solidFill>
                <a:schemeClr val="dk1"/>
              </a:solidFill>
            </a:endParaRPr>
          </a:p>
          <a:p>
            <a:pPr indent="0" lvl="0" marL="0" rtl="0" algn="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l">
                <a:solidFill>
                  <a:schemeClr val="dk1"/>
                </a:solidFill>
              </a:rPr>
              <a:t>Θοδωρής Πετούρης 1083821</a:t>
            </a:r>
            <a:endParaRPr>
              <a:solidFill>
                <a:schemeClr val="dk1"/>
              </a:solidFill>
            </a:endParaRPr>
          </a:p>
          <a:p>
            <a:pPr indent="0" lvl="0" marL="0" rtl="0" algn="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l">
                <a:solidFill>
                  <a:schemeClr val="dk1"/>
                </a:solidFill>
              </a:rPr>
              <a:t>Αγγελική Παπαδήμα 1084820</a:t>
            </a:r>
            <a:endParaRPr>
              <a:solidFill>
                <a:schemeClr val="dk1"/>
              </a:solidFill>
            </a:endParaRPr>
          </a:p>
          <a:p>
            <a:pPr indent="0" lvl="0" marL="0" rtl="0" algn="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r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Παρουσίαση προβλήματος και στάδια</a:t>
            </a:r>
            <a:endParaRPr/>
          </a:p>
        </p:txBody>
      </p:sp>
      <p:sp>
        <p:nvSpPr>
          <p:cNvPr id="63" name="Google Shape;63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SzPts val="935"/>
              <a:buNone/>
            </a:pPr>
            <a:r>
              <a:rPr b="1" lang="el" sz="1490">
                <a:solidFill>
                  <a:schemeClr val="dk1"/>
                </a:solidFill>
              </a:rPr>
              <a:t>Το Πρόβλημα </a:t>
            </a:r>
            <a:endParaRPr b="1" sz="1490">
              <a:solidFill>
                <a:schemeClr val="dk1"/>
              </a:solidFill>
            </a:endParaRPr>
          </a:p>
          <a:p>
            <a:pPr indent="-31242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20"/>
              <a:buChar char="●"/>
            </a:pPr>
            <a:r>
              <a:rPr b="1" lang="el" sz="1320">
                <a:solidFill>
                  <a:schemeClr val="dk1"/>
                </a:solidFill>
              </a:rPr>
              <a:t>Στόχος:</a:t>
            </a:r>
            <a:r>
              <a:rPr lang="el" sz="1320">
                <a:solidFill>
                  <a:schemeClr val="dk1"/>
                </a:solidFill>
              </a:rPr>
              <a:t> Βέλτιστη χωροθέτηση αεροδρομίων σε δισδιάστατο χώρο.</a:t>
            </a:r>
            <a:endParaRPr sz="1320">
              <a:solidFill>
                <a:schemeClr val="dk1"/>
              </a:solidFill>
            </a:endParaRPr>
          </a:p>
          <a:p>
            <a:pPr indent="-31242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20"/>
              <a:buChar char="●"/>
            </a:pPr>
            <a:r>
              <a:rPr b="1" lang="el" sz="1320">
                <a:solidFill>
                  <a:schemeClr val="dk1"/>
                </a:solidFill>
              </a:rPr>
              <a:t>Κριτήριο:</a:t>
            </a:r>
            <a:r>
              <a:rPr lang="el" sz="1320">
                <a:solidFill>
                  <a:schemeClr val="dk1"/>
                </a:solidFill>
              </a:rPr>
              <a:t> Ελαχιστοποίηση του συνολικού κόστους (αποστάσεις πόλεων σταθμισμένες με τον πληθυσμό τους).</a:t>
            </a:r>
            <a:endParaRPr sz="1320">
              <a:solidFill>
                <a:schemeClr val="dk1"/>
              </a:solidFill>
            </a:endParaRPr>
          </a:p>
          <a:p>
            <a:pPr indent="-312420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20"/>
              <a:buChar char="●"/>
            </a:pPr>
            <a:r>
              <a:rPr b="1" lang="el" sz="1320">
                <a:solidFill>
                  <a:schemeClr val="dk1"/>
                </a:solidFill>
              </a:rPr>
              <a:t>Περιορισμός:</a:t>
            </a:r>
            <a:r>
              <a:rPr lang="el" sz="1320">
                <a:solidFill>
                  <a:schemeClr val="dk1"/>
                </a:solidFill>
              </a:rPr>
              <a:t> Κάθε πόλη εξυπηρετείται υποχρεωτικά από το πλησιέστερο αεροδρόμιο (Γεωμετρικά Σύνορα Voronoi).</a:t>
            </a:r>
            <a:endParaRPr sz="132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935"/>
              <a:buFont typeface="Arial"/>
              <a:buNone/>
            </a:pPr>
            <a:r>
              <a:rPr b="1" lang="el" sz="1497">
                <a:solidFill>
                  <a:schemeClr val="dk1"/>
                </a:solidFill>
              </a:rPr>
              <a:t>Η Εξέλιξη της Υλοποίησης (Project Stages)</a:t>
            </a:r>
            <a:endParaRPr b="1" sz="1497">
              <a:solidFill>
                <a:schemeClr val="dk1"/>
              </a:solidFill>
            </a:endParaRPr>
          </a:p>
          <a:p>
            <a:pPr indent="-312858" lvl="0" marL="457200" rtl="0" algn="l">
              <a:lnSpc>
                <a:spcPct val="9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327"/>
              <a:buChar char="●"/>
            </a:pPr>
            <a:r>
              <a:rPr b="1" lang="el" sz="1327">
                <a:solidFill>
                  <a:schemeClr val="dk1"/>
                </a:solidFill>
              </a:rPr>
              <a:t>Στάδιο Α:</a:t>
            </a:r>
            <a:r>
              <a:rPr lang="el" sz="1327">
                <a:solidFill>
                  <a:schemeClr val="dk1"/>
                </a:solidFill>
              </a:rPr>
              <a:t> Απλή χωροθέτηση </a:t>
            </a:r>
            <a:r>
              <a:rPr b="1" lang="el" sz="1327">
                <a:solidFill>
                  <a:schemeClr val="dk1"/>
                </a:solidFill>
              </a:rPr>
              <a:t>1 αεροδρομίου</a:t>
            </a:r>
            <a:r>
              <a:rPr lang="el" sz="1327">
                <a:solidFill>
                  <a:schemeClr val="dk1"/>
                </a:solidFill>
              </a:rPr>
              <a:t> για 7 σταθερές πόλεις με ίσο πληθυσμό</a:t>
            </a:r>
            <a:r>
              <a:rPr lang="el" sz="1327">
                <a:solidFill>
                  <a:schemeClr val="dk1"/>
                </a:solidFill>
              </a:rPr>
              <a:t>η</a:t>
            </a:r>
            <a:r>
              <a:rPr lang="el" sz="1327">
                <a:solidFill>
                  <a:schemeClr val="dk1"/>
                </a:solidFill>
              </a:rPr>
              <a:t>.</a:t>
            </a:r>
            <a:endParaRPr sz="1327">
              <a:solidFill>
                <a:schemeClr val="dk1"/>
              </a:solidFill>
            </a:endParaRPr>
          </a:p>
          <a:p>
            <a:pPr indent="-312858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27"/>
              <a:buChar char="●"/>
            </a:pPr>
            <a:r>
              <a:rPr b="1" lang="el" sz="1327">
                <a:solidFill>
                  <a:schemeClr val="dk1"/>
                </a:solidFill>
              </a:rPr>
              <a:t>Στάδιο Β:</a:t>
            </a:r>
            <a:r>
              <a:rPr lang="el" sz="1327">
                <a:solidFill>
                  <a:schemeClr val="dk1"/>
                </a:solidFill>
              </a:rPr>
              <a:t> Εισαγωγή </a:t>
            </a:r>
            <a:r>
              <a:rPr b="1" lang="el" sz="1327">
                <a:solidFill>
                  <a:schemeClr val="dk1"/>
                </a:solidFill>
              </a:rPr>
              <a:t>πληθυσμιακών βαρών</a:t>
            </a:r>
            <a:r>
              <a:rPr lang="el" sz="1327">
                <a:solidFill>
                  <a:schemeClr val="dk1"/>
                </a:solidFill>
              </a:rPr>
              <a:t> στις 7 πόλεις.</a:t>
            </a:r>
            <a:endParaRPr sz="1327">
              <a:solidFill>
                <a:schemeClr val="dk1"/>
              </a:solidFill>
            </a:endParaRPr>
          </a:p>
          <a:p>
            <a:pPr indent="-312858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27"/>
              <a:buChar char="●"/>
            </a:pPr>
            <a:r>
              <a:rPr b="1" lang="el" sz="1327">
                <a:solidFill>
                  <a:schemeClr val="dk1"/>
                </a:solidFill>
              </a:rPr>
              <a:t>Στάδιο Γ:</a:t>
            </a:r>
            <a:r>
              <a:rPr lang="el" sz="1327">
                <a:solidFill>
                  <a:schemeClr val="dk1"/>
                </a:solidFill>
              </a:rPr>
              <a:t> Επέκταση σε δίκτυο </a:t>
            </a:r>
            <a:r>
              <a:rPr b="1" lang="el" sz="1327">
                <a:solidFill>
                  <a:schemeClr val="dk1"/>
                </a:solidFill>
              </a:rPr>
              <a:t>2 αεροδρομίων</a:t>
            </a:r>
            <a:r>
              <a:rPr lang="el" sz="1327">
                <a:solidFill>
                  <a:schemeClr val="dk1"/>
                </a:solidFill>
              </a:rPr>
              <a:t> με χρήση Γενετικού Αλγορίθμου.</a:t>
            </a:r>
            <a:endParaRPr sz="1327">
              <a:solidFill>
                <a:schemeClr val="dk1"/>
              </a:solidFill>
            </a:endParaRPr>
          </a:p>
          <a:p>
            <a:pPr indent="-312858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27"/>
              <a:buChar char="●"/>
            </a:pPr>
            <a:r>
              <a:rPr b="1" lang="el" sz="1327">
                <a:solidFill>
                  <a:schemeClr val="dk1"/>
                </a:solidFill>
              </a:rPr>
              <a:t>Στάδιο Δ (Τελικό):</a:t>
            </a:r>
            <a:r>
              <a:rPr lang="el" sz="1327">
                <a:solidFill>
                  <a:schemeClr val="dk1"/>
                </a:solidFill>
              </a:rPr>
              <a:t> Γενική περίπτωση (</a:t>
            </a:r>
            <a:r>
              <a:rPr lang="el" sz="1327" u="sng">
                <a:solidFill>
                  <a:schemeClr val="dk1"/>
                </a:solidFill>
              </a:rPr>
              <a:t>m αεροδρόμια, n τυχαίες πόλεις</a:t>
            </a:r>
            <a:r>
              <a:rPr lang="el" sz="1327">
                <a:solidFill>
                  <a:schemeClr val="dk1"/>
                </a:solidFill>
              </a:rPr>
              <a:t>) – Σύγκριση </a:t>
            </a:r>
            <a:r>
              <a:rPr b="1" lang="el" sz="1327">
                <a:solidFill>
                  <a:schemeClr val="dk1"/>
                </a:solidFill>
              </a:rPr>
              <a:t>PSO vs Genetic</a:t>
            </a:r>
            <a:r>
              <a:rPr lang="el" sz="1327">
                <a:solidFill>
                  <a:schemeClr val="dk1"/>
                </a:solidFill>
              </a:rPr>
              <a:t>.</a:t>
            </a:r>
            <a:endParaRPr sz="1327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935"/>
              <a:buNone/>
            </a:pPr>
            <a:r>
              <a:t/>
            </a:r>
            <a:endParaRPr sz="1412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935"/>
              <a:buNone/>
            </a:pPr>
            <a:r>
              <a:t/>
            </a:r>
            <a:endParaRPr sz="183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Στάδιο Α: </a:t>
            </a:r>
            <a:r>
              <a:rPr lang="el" sz="2700"/>
              <a:t>Απλή Χωροθέτηση Αεροδρομίου</a:t>
            </a:r>
            <a:endParaRPr sz="2700"/>
          </a:p>
        </p:txBody>
      </p:sp>
      <p:sp>
        <p:nvSpPr>
          <p:cNvPr id="69" name="Google Shape;69;p15"/>
          <p:cNvSpPr txBox="1"/>
          <p:nvPr>
            <p:ph idx="1" type="body"/>
          </p:nvPr>
        </p:nvSpPr>
        <p:spPr>
          <a:xfrm>
            <a:off x="258025" y="974700"/>
            <a:ext cx="8695800" cy="416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SzPts val="688"/>
              <a:buNone/>
            </a:pPr>
            <a:r>
              <a:rPr b="1" lang="el" sz="1113">
                <a:solidFill>
                  <a:schemeClr val="dk1"/>
                </a:solidFill>
              </a:rPr>
              <a:t>•</a:t>
            </a:r>
            <a:r>
              <a:rPr b="1" lang="el" sz="1113" u="sng">
                <a:solidFill>
                  <a:schemeClr val="dk1"/>
                </a:solidFill>
              </a:rPr>
              <a:t> Δεδομένα:</a:t>
            </a:r>
            <a:endParaRPr b="1" sz="1113" u="sng">
              <a:solidFill>
                <a:schemeClr val="dk1"/>
              </a:solidFill>
            </a:endParaRPr>
          </a:p>
          <a:p>
            <a:pPr indent="-296976" lvl="0" marL="457200" rtl="0" algn="l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077"/>
              <a:buChar char="➔"/>
            </a:pPr>
            <a:r>
              <a:rPr lang="el" sz="1077">
                <a:solidFill>
                  <a:schemeClr val="dk1"/>
                </a:solidFill>
              </a:rPr>
              <a:t>7 πόλεις με γνωστές συντεταγμένες (xi​,yi​).</a:t>
            </a:r>
            <a:endParaRPr sz="1077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SzPts val="688"/>
              <a:buNone/>
            </a:pPr>
            <a:r>
              <a:rPr lang="el" sz="1050">
                <a:solidFill>
                  <a:schemeClr val="dk1"/>
                </a:solidFill>
              </a:rPr>
              <a:t>•</a:t>
            </a:r>
            <a:r>
              <a:rPr b="1" lang="el" sz="1050" u="sng">
                <a:solidFill>
                  <a:schemeClr val="dk1"/>
                </a:solidFill>
              </a:rPr>
              <a:t>Στόχος</a:t>
            </a:r>
            <a:r>
              <a:rPr b="1" lang="el" sz="1050">
                <a:solidFill>
                  <a:schemeClr val="dk1"/>
                </a:solidFill>
              </a:rPr>
              <a:t>:</a:t>
            </a:r>
            <a:endParaRPr b="1" sz="1050">
              <a:solidFill>
                <a:schemeClr val="dk1"/>
              </a:solidFill>
            </a:endParaRPr>
          </a:p>
          <a:p>
            <a:pPr indent="-284163" lvl="0" marL="457200" rtl="0" algn="l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875"/>
              <a:buChar char="➔"/>
            </a:pPr>
            <a:r>
              <a:rPr lang="el" sz="1050">
                <a:solidFill>
                  <a:schemeClr val="dk1"/>
                </a:solidFill>
              </a:rPr>
              <a:t> </a:t>
            </a:r>
            <a:r>
              <a:rPr lang="el" sz="1139">
                <a:solidFill>
                  <a:schemeClr val="dk1"/>
                </a:solidFill>
              </a:rPr>
              <a:t>Εύρεση θέσης αεροδρομίου </a:t>
            </a:r>
            <a:r>
              <a:rPr lang="el" sz="1077">
                <a:solidFill>
                  <a:schemeClr val="dk1"/>
                </a:solidFill>
              </a:rPr>
              <a:t>(X,Y)(X,Y)</a:t>
            </a:r>
            <a:r>
              <a:rPr lang="el" sz="1139">
                <a:solidFill>
                  <a:schemeClr val="dk1"/>
                </a:solidFill>
              </a:rPr>
              <a:t>.</a:t>
            </a:r>
            <a:endParaRPr sz="1077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688"/>
              <a:buFont typeface="Arial"/>
              <a:buNone/>
            </a:pPr>
            <a:r>
              <a:rPr b="1" lang="el" sz="1113">
                <a:solidFill>
                  <a:schemeClr val="dk1"/>
                </a:solidFill>
              </a:rPr>
              <a:t>• </a:t>
            </a:r>
            <a:r>
              <a:rPr b="1" lang="el" sz="1113" u="sng">
                <a:solidFill>
                  <a:schemeClr val="dk1"/>
                </a:solidFill>
              </a:rPr>
              <a:t>Αντικειμενική Συνάρτηση:</a:t>
            </a:r>
            <a:endParaRPr b="1" sz="1113" u="sng">
              <a:solidFill>
                <a:schemeClr val="dk1"/>
              </a:solidFill>
            </a:endParaRPr>
          </a:p>
          <a:p>
            <a:pPr indent="-296976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77"/>
              <a:buChar char="➔"/>
            </a:pPr>
            <a:r>
              <a:rPr lang="el" sz="1077">
                <a:solidFill>
                  <a:schemeClr val="dk1"/>
                </a:solidFill>
              </a:rPr>
              <a:t>Ελαχιστοποίηση του αθροίσματος των Ευκλείδειων αποστάσεων όλων των πόλεων από το αεροδρόμιο.</a:t>
            </a:r>
            <a:endParaRPr sz="1077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l" sz="1077">
                <a:solidFill>
                  <a:schemeClr val="dk1"/>
                </a:solidFill>
              </a:rPr>
              <a:t>                                         όπου: </a:t>
            </a:r>
            <a:endParaRPr sz="1077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688"/>
              <a:buFont typeface="Arial"/>
              <a:buNone/>
            </a:pPr>
            <a:r>
              <a:rPr b="1" lang="el" sz="1113">
                <a:solidFill>
                  <a:schemeClr val="dk1"/>
                </a:solidFill>
              </a:rPr>
              <a:t>• </a:t>
            </a:r>
            <a:r>
              <a:rPr b="1" lang="el" sz="1113" u="sng">
                <a:solidFill>
                  <a:schemeClr val="dk1"/>
                </a:solidFill>
              </a:rPr>
              <a:t>Μέθοδος Βελτιστοποίησης:</a:t>
            </a:r>
            <a:endParaRPr b="1" sz="1113" u="sng"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➔"/>
            </a:pPr>
            <a:r>
              <a:rPr lang="el" sz="1100">
                <a:solidFill>
                  <a:schemeClr val="dk1"/>
                </a:solidFill>
              </a:rPr>
              <a:t>Monte Carlo Search με τυχαία παραγωγή υποψήφιων θέσεων.</a:t>
            </a:r>
            <a:r>
              <a:rPr lang="el" sz="988">
                <a:solidFill>
                  <a:schemeClr val="dk1"/>
                </a:solidFill>
              </a:rPr>
              <a:t> </a:t>
            </a:r>
            <a:endParaRPr sz="988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688"/>
              <a:buNone/>
            </a:pPr>
            <a:r>
              <a:rPr lang="el" sz="1200">
                <a:solidFill>
                  <a:schemeClr val="dk1"/>
                </a:solidFill>
              </a:rPr>
              <a:t>•</a:t>
            </a:r>
            <a:r>
              <a:rPr b="1" lang="el" sz="1200" u="sng">
                <a:solidFill>
                  <a:schemeClr val="dk1"/>
                </a:solidFill>
              </a:rPr>
              <a:t>Βασική</a:t>
            </a:r>
            <a:r>
              <a:rPr lang="el" sz="1200" u="sng">
                <a:solidFill>
                  <a:schemeClr val="dk1"/>
                </a:solidFill>
              </a:rPr>
              <a:t> </a:t>
            </a:r>
            <a:r>
              <a:rPr b="1" lang="el" sz="1000" u="sng">
                <a:solidFill>
                  <a:schemeClr val="dk1"/>
                </a:solidFill>
              </a:rPr>
              <a:t>Ι</a:t>
            </a:r>
            <a:r>
              <a:rPr b="1" lang="el" sz="1100" u="sng">
                <a:solidFill>
                  <a:schemeClr val="dk1"/>
                </a:solidFill>
              </a:rPr>
              <a:t>δέα:</a:t>
            </a:r>
            <a:r>
              <a:rPr lang="el" sz="1100">
                <a:solidFill>
                  <a:schemeClr val="dk1"/>
                </a:solidFill>
              </a:rPr>
              <a:t> </a:t>
            </a:r>
            <a:endParaRPr sz="1100">
              <a:solidFill>
                <a:schemeClr val="dk1"/>
              </a:solidFill>
            </a:endParaRPr>
          </a:p>
          <a:p>
            <a:pPr indent="-30480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➔"/>
            </a:pPr>
            <a:r>
              <a:rPr lang="el" sz="1100">
                <a:solidFill>
                  <a:schemeClr val="dk1"/>
                </a:solidFill>
              </a:rPr>
              <a:t>Δοκιμάζονται πολλές τυχαίες θέσεις και κρατάμε αυτή με το μικρότερο κόστος</a:t>
            </a:r>
            <a:r>
              <a:rPr lang="el" sz="1200">
                <a:solidFill>
                  <a:schemeClr val="dk1"/>
                </a:solidFill>
              </a:rPr>
              <a:t>.</a:t>
            </a:r>
            <a:endParaRPr sz="988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SzPts val="688"/>
              <a:buNone/>
            </a:pPr>
            <a:r>
              <a:rPr b="1" lang="el" sz="1113">
                <a:solidFill>
                  <a:schemeClr val="dk1"/>
                </a:solidFill>
              </a:rPr>
              <a:t>• </a:t>
            </a:r>
            <a:r>
              <a:rPr b="1" lang="el" sz="1113" u="sng">
                <a:solidFill>
                  <a:schemeClr val="dk1"/>
                </a:solidFill>
              </a:rPr>
              <a:t>Αποτέλεσμα: </a:t>
            </a:r>
            <a:r>
              <a:rPr lang="el" sz="1100">
                <a:solidFill>
                  <a:schemeClr val="dk1"/>
                </a:solidFill>
              </a:rPr>
              <a:t>Η βέλτιστη θέση βρίσκεται κοντά στο γεωμετρικό κέντρο των πόλεων.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688"/>
              <a:buFont typeface="Arial"/>
              <a:buNone/>
            </a:pPr>
            <a:r>
              <a:t/>
            </a:r>
            <a:endParaRPr b="1" sz="1113" u="sng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400"/>
              </a:spcBef>
              <a:spcAft>
                <a:spcPts val="1200"/>
              </a:spcAft>
              <a:buSzPts val="688"/>
              <a:buNone/>
            </a:pPr>
            <a:r>
              <a:t/>
            </a:r>
            <a:endParaRPr sz="875"/>
          </a:p>
        </p:txBody>
      </p:sp>
      <p:pic>
        <p:nvPicPr>
          <p:cNvPr id="70" name="Google Shape;70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85922" y="3012075"/>
            <a:ext cx="623950" cy="385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1" name="Google Shape;71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84350" y="3095100"/>
            <a:ext cx="2152650" cy="2190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6"/>
          <p:cNvSpPr txBox="1"/>
          <p:nvPr>
            <p:ph type="title"/>
          </p:nvPr>
        </p:nvSpPr>
        <p:spPr>
          <a:xfrm>
            <a:off x="276775" y="4078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Στάδιο Β: </a:t>
            </a:r>
            <a:r>
              <a:rPr lang="el" sz="2700"/>
              <a:t>Σταθμισμένη Χωροθέτηση</a:t>
            </a:r>
            <a:endParaRPr sz="2700"/>
          </a:p>
        </p:txBody>
      </p:sp>
      <p:sp>
        <p:nvSpPr>
          <p:cNvPr id="77" name="Google Shape;77;p16"/>
          <p:cNvSpPr txBox="1"/>
          <p:nvPr>
            <p:ph idx="1" type="body"/>
          </p:nvPr>
        </p:nvSpPr>
        <p:spPr>
          <a:xfrm>
            <a:off x="215025" y="980525"/>
            <a:ext cx="8816100" cy="39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l" sz="1300">
                <a:solidFill>
                  <a:schemeClr val="dk1"/>
                </a:solidFill>
              </a:rPr>
              <a:t>•</a:t>
            </a:r>
            <a:r>
              <a:rPr b="1" lang="el" sz="1300" u="sng">
                <a:solidFill>
                  <a:schemeClr val="dk1"/>
                </a:solidFill>
              </a:rPr>
              <a:t> </a:t>
            </a:r>
            <a:r>
              <a:rPr b="1" lang="el" sz="1100" u="sng">
                <a:solidFill>
                  <a:schemeClr val="dk1"/>
                </a:solidFill>
              </a:rPr>
              <a:t>Επιπλέον Δεδομένα:</a:t>
            </a:r>
            <a:endParaRPr b="1" sz="1100" u="sng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➔"/>
            </a:pPr>
            <a:r>
              <a:rPr lang="el" sz="1100">
                <a:solidFill>
                  <a:schemeClr val="dk1"/>
                </a:solidFill>
              </a:rPr>
              <a:t>Προσθήκη πληθυσμού pi​ για κάθε πόλη.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l" sz="1200">
                <a:solidFill>
                  <a:schemeClr val="dk1"/>
                </a:solidFill>
              </a:rPr>
              <a:t>• </a:t>
            </a:r>
            <a:r>
              <a:rPr b="1" lang="el" sz="1100" u="sng">
                <a:solidFill>
                  <a:schemeClr val="dk1"/>
                </a:solidFill>
              </a:rPr>
              <a:t>Στόχος:</a:t>
            </a:r>
            <a:r>
              <a:rPr lang="el" sz="1200">
                <a:solidFill>
                  <a:schemeClr val="dk1"/>
                </a:solidFill>
              </a:rPr>
              <a:t> </a:t>
            </a:r>
            <a:endParaRPr sz="1200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➔"/>
            </a:pPr>
            <a:r>
              <a:rPr lang="el" sz="1100">
                <a:solidFill>
                  <a:schemeClr val="dk1"/>
                </a:solidFill>
              </a:rPr>
              <a:t>Οι μεγαλύτερες πόλεις να επηρεάζουν περισσότερο τη θέση του αεροδρομίου.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l" sz="1200">
                <a:solidFill>
                  <a:schemeClr val="dk1"/>
                </a:solidFill>
              </a:rPr>
              <a:t>• </a:t>
            </a:r>
            <a:r>
              <a:rPr b="1" lang="el" sz="1100" u="sng">
                <a:solidFill>
                  <a:schemeClr val="dk1"/>
                </a:solidFill>
              </a:rPr>
              <a:t>Νέα Συνάρτηση Κόστους:</a:t>
            </a:r>
            <a:endParaRPr b="1" sz="1100" u="sng">
              <a:solidFill>
                <a:schemeClr val="dk1"/>
              </a:solidFill>
            </a:endParaRPr>
          </a:p>
          <a:p>
            <a:pPr indent="-2921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000"/>
              <a:buChar char="➔"/>
            </a:pPr>
            <a:r>
              <a:rPr lang="el" sz="1100">
                <a:solidFill>
                  <a:schemeClr val="dk1"/>
                </a:solidFill>
              </a:rPr>
              <a:t>Κάθε απόσταση πολλαπλασιάζεται με τον αντίστοιχο πληθυσμό.                                  όπου: </a:t>
            </a:r>
            <a:endParaRPr sz="10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l" sz="1113">
                <a:solidFill>
                  <a:schemeClr val="dk1"/>
                </a:solidFill>
              </a:rPr>
              <a:t>• </a:t>
            </a:r>
            <a:r>
              <a:rPr b="1" lang="el" sz="1113" u="sng">
                <a:solidFill>
                  <a:schemeClr val="dk1"/>
                </a:solidFill>
              </a:rPr>
              <a:t>Μέθοδος Βελτιστοποίησης:</a:t>
            </a:r>
            <a:r>
              <a:rPr lang="el" sz="1113">
                <a:solidFill>
                  <a:schemeClr val="dk1"/>
                </a:solidFill>
              </a:rPr>
              <a:t> Παραμένει ίδια.</a:t>
            </a:r>
            <a:endParaRPr sz="1113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l" sz="1113">
                <a:solidFill>
                  <a:schemeClr val="dk1"/>
                </a:solidFill>
              </a:rPr>
              <a:t>• </a:t>
            </a:r>
            <a:r>
              <a:rPr b="1" lang="el" sz="1100" u="sng">
                <a:solidFill>
                  <a:schemeClr val="dk1"/>
                </a:solidFill>
              </a:rPr>
              <a:t>Αλλαγή στον κώδικα: </a:t>
            </a:r>
            <a:endParaRPr b="1" sz="1100" u="sng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Char char="➔"/>
            </a:pPr>
            <a:r>
              <a:rPr lang="el" sz="1100">
                <a:solidFill>
                  <a:schemeClr val="dk1"/>
                </a:solidFill>
              </a:rPr>
              <a:t>Κάθε απόσταση πολλαπλασιάζεται με τον αντίστοιχο πληθυσμό.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lang="el" sz="1200">
                <a:solidFill>
                  <a:schemeClr val="dk1"/>
                </a:solidFill>
              </a:rPr>
              <a:t>•</a:t>
            </a:r>
            <a:r>
              <a:rPr b="1" lang="el" sz="1100">
                <a:solidFill>
                  <a:schemeClr val="dk1"/>
                </a:solidFill>
              </a:rPr>
              <a:t> </a:t>
            </a:r>
            <a:r>
              <a:rPr b="1" lang="el" sz="1100" u="sng">
                <a:solidFill>
                  <a:schemeClr val="dk1"/>
                </a:solidFill>
              </a:rPr>
              <a:t>Αποτέλεσμα:</a:t>
            </a:r>
            <a:r>
              <a:rPr lang="el" sz="1100">
                <a:solidFill>
                  <a:schemeClr val="dk1"/>
                </a:solidFill>
              </a:rPr>
              <a:t>Το αεροδρόμιο μετακινείται προς τις μεγαλύτερες πόλεις.</a:t>
            </a:r>
            <a:endParaRPr b="1" sz="913" u="sng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95000"/>
              </a:lnSpc>
              <a:spcBef>
                <a:spcPts val="1400"/>
              </a:spcBef>
              <a:spcAft>
                <a:spcPts val="400"/>
              </a:spcAft>
              <a:buNone/>
            </a:pPr>
            <a:r>
              <a:t/>
            </a:r>
            <a:endParaRPr sz="1113">
              <a:solidFill>
                <a:schemeClr val="dk1"/>
              </a:solidFill>
            </a:endParaRPr>
          </a:p>
        </p:txBody>
      </p:sp>
      <p:pic>
        <p:nvPicPr>
          <p:cNvPr id="78" name="Google Shape;78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039888" y="2660475"/>
            <a:ext cx="904875" cy="476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9" name="Google Shape;79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85299" y="2780425"/>
            <a:ext cx="2174475" cy="236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Σ</a:t>
            </a:r>
            <a:r>
              <a:rPr lang="el"/>
              <a:t>ύ</a:t>
            </a:r>
            <a:r>
              <a:rPr lang="el"/>
              <a:t>γκριση Σταδ</a:t>
            </a:r>
            <a:r>
              <a:rPr lang="el"/>
              <a:t>ίων Α</a:t>
            </a:r>
            <a:r>
              <a:rPr lang="el" sz="2700"/>
              <a:t>&amp;Β</a:t>
            </a:r>
            <a:endParaRPr sz="2700"/>
          </a:p>
        </p:txBody>
      </p:sp>
      <p:pic>
        <p:nvPicPr>
          <p:cNvPr id="85" name="Google Shape;85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9225" y="1017725"/>
            <a:ext cx="3934662" cy="3474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6" name="Google Shape;86;p1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64450" y="1017725"/>
            <a:ext cx="3827024" cy="347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8"/>
          <p:cNvSpPr txBox="1"/>
          <p:nvPr>
            <p:ph type="title"/>
          </p:nvPr>
        </p:nvSpPr>
        <p:spPr>
          <a:xfrm>
            <a:off x="311700" y="438650"/>
            <a:ext cx="3851400" cy="57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l" sz="2620"/>
              <a:t>Σύγκριση Σταδίων Α</a:t>
            </a:r>
            <a:r>
              <a:rPr lang="el" sz="2530"/>
              <a:t>&amp;Β</a:t>
            </a:r>
            <a:endParaRPr sz="2530"/>
          </a:p>
        </p:txBody>
      </p:sp>
      <p:sp>
        <p:nvSpPr>
          <p:cNvPr id="92" name="Google Shape;92;p18"/>
          <p:cNvSpPr txBox="1"/>
          <p:nvPr/>
        </p:nvSpPr>
        <p:spPr>
          <a:xfrm>
            <a:off x="190350" y="1143950"/>
            <a:ext cx="4094100" cy="350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l" sz="1300" u="sng">
                <a:solidFill>
                  <a:schemeClr val="dk1"/>
                </a:solidFill>
              </a:rPr>
              <a:t>• Στάδιο Α:</a:t>
            </a:r>
            <a:endParaRPr b="1" sz="1300" u="sng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➔"/>
            </a:pPr>
            <a:r>
              <a:rPr lang="el" sz="1100">
                <a:solidFill>
                  <a:schemeClr val="dk1"/>
                </a:solidFill>
              </a:rPr>
              <a:t>Όλες οι πόλεις έχουν ίση βαρύτητα.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l" sz="1300">
                <a:solidFill>
                  <a:schemeClr val="dk1"/>
                </a:solidFill>
              </a:rPr>
              <a:t>•</a:t>
            </a:r>
            <a:r>
              <a:rPr b="1" lang="el" sz="1300" u="sng">
                <a:solidFill>
                  <a:schemeClr val="dk1"/>
                </a:solidFill>
              </a:rPr>
              <a:t> Στάδιο Β:</a:t>
            </a:r>
            <a:endParaRPr b="1" sz="1300" u="sng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➔"/>
            </a:pPr>
            <a:r>
              <a:rPr lang="el" sz="1100">
                <a:solidFill>
                  <a:schemeClr val="dk1"/>
                </a:solidFill>
              </a:rPr>
              <a:t>Οι μεγαλύτεροι πληθυσμοί επηρεάζουν περισσότερο τη λύση.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l" sz="1300">
                <a:solidFill>
                  <a:schemeClr val="dk1"/>
                </a:solidFill>
              </a:rPr>
              <a:t>• </a:t>
            </a:r>
            <a:r>
              <a:rPr b="1" lang="el" sz="1300" u="sng">
                <a:solidFill>
                  <a:schemeClr val="dk1"/>
                </a:solidFill>
              </a:rPr>
              <a:t>Κοινός Αλγόριθμος:</a:t>
            </a:r>
            <a:endParaRPr b="1" sz="1300" u="sng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➔"/>
            </a:pPr>
            <a:r>
              <a:rPr lang="el" sz="1100">
                <a:solidFill>
                  <a:schemeClr val="dk1"/>
                </a:solidFill>
              </a:rPr>
              <a:t>Monte Carlo Search και στα δύο στάδια.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l" sz="1300">
                <a:solidFill>
                  <a:schemeClr val="dk1"/>
                </a:solidFill>
              </a:rPr>
              <a:t>• </a:t>
            </a:r>
            <a:r>
              <a:rPr b="1" lang="el" sz="1300" u="sng">
                <a:solidFill>
                  <a:schemeClr val="dk1"/>
                </a:solidFill>
              </a:rPr>
              <a:t>Συμπέρασμα:</a:t>
            </a:r>
            <a:endParaRPr b="1" sz="1300" u="sng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➔"/>
            </a:pPr>
            <a:r>
              <a:rPr lang="el" sz="1100">
                <a:solidFill>
                  <a:schemeClr val="dk1"/>
                </a:solidFill>
              </a:rPr>
              <a:t>Το Β παρέχει πιο ρεαλιστική λύση για πραγματικά δεδομένα.</a:t>
            </a:r>
            <a:endParaRPr sz="1100">
              <a:solidFill>
                <a:schemeClr val="dk1"/>
              </a:solidFill>
            </a:endParaRPr>
          </a:p>
        </p:txBody>
      </p:sp>
      <p:sp>
        <p:nvSpPr>
          <p:cNvPr id="93" name="Google Shape;93;p18"/>
          <p:cNvSpPr txBox="1"/>
          <p:nvPr>
            <p:ph type="title"/>
          </p:nvPr>
        </p:nvSpPr>
        <p:spPr>
          <a:xfrm>
            <a:off x="4437850" y="438650"/>
            <a:ext cx="3851400" cy="579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 sz="2500"/>
              <a:t>Υλοποίηση σε Python</a:t>
            </a:r>
            <a:endParaRPr sz="4000"/>
          </a:p>
        </p:txBody>
      </p:sp>
      <p:cxnSp>
        <p:nvCxnSpPr>
          <p:cNvPr id="94" name="Google Shape;94;p18"/>
          <p:cNvCxnSpPr/>
          <p:nvPr/>
        </p:nvCxnSpPr>
        <p:spPr>
          <a:xfrm>
            <a:off x="4326400" y="524675"/>
            <a:ext cx="34500" cy="4197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5" name="Google Shape;95;p18"/>
          <p:cNvSpPr txBox="1"/>
          <p:nvPr/>
        </p:nvSpPr>
        <p:spPr>
          <a:xfrm>
            <a:off x="4506650" y="1143950"/>
            <a:ext cx="4055100" cy="38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l" sz="1300">
                <a:solidFill>
                  <a:schemeClr val="dk1"/>
                </a:solidFill>
              </a:rPr>
              <a:t>•</a:t>
            </a:r>
            <a:r>
              <a:rPr b="1" lang="el" sz="1100">
                <a:solidFill>
                  <a:schemeClr val="dk1"/>
                </a:solidFill>
              </a:rPr>
              <a:t> </a:t>
            </a:r>
            <a:r>
              <a:rPr b="1" lang="el" sz="1300" u="sng">
                <a:solidFill>
                  <a:schemeClr val="dk1"/>
                </a:solidFill>
              </a:rPr>
              <a:t>NumPy:</a:t>
            </a:r>
            <a:endParaRPr b="1" sz="1300" u="sng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Char char="➔"/>
            </a:pPr>
            <a:r>
              <a:rPr lang="el" sz="1100">
                <a:solidFill>
                  <a:schemeClr val="dk1"/>
                </a:solidFill>
              </a:rPr>
              <a:t>Αποθήκευση συντεταγμένων και υπολογισμός αποστάσεων.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l" sz="1300">
                <a:solidFill>
                  <a:schemeClr val="dk1"/>
                </a:solidFill>
              </a:rPr>
              <a:t>• </a:t>
            </a:r>
            <a:r>
              <a:rPr b="1" lang="el" sz="1300" u="sng">
                <a:solidFill>
                  <a:schemeClr val="dk1"/>
                </a:solidFill>
              </a:rPr>
              <a:t>Monte Carlo Search:</a:t>
            </a:r>
            <a:endParaRPr b="1" sz="1300" u="sng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➔"/>
            </a:pPr>
            <a:r>
              <a:rPr lang="el" sz="1100">
                <a:solidFill>
                  <a:schemeClr val="dk1"/>
                </a:solidFill>
              </a:rPr>
              <a:t>Παραγωγή τυχαίων υποψήφιων λύσεων.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l" sz="1300">
                <a:solidFill>
                  <a:schemeClr val="dk1"/>
                </a:solidFill>
              </a:rPr>
              <a:t>• </a:t>
            </a:r>
            <a:r>
              <a:rPr b="1" lang="el" sz="1300" u="sng">
                <a:solidFill>
                  <a:schemeClr val="dk1"/>
                </a:solidFill>
              </a:rPr>
              <a:t>Matplotlib:</a:t>
            </a:r>
            <a:endParaRPr b="1" sz="1300" u="sng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➔"/>
            </a:pPr>
            <a:r>
              <a:rPr lang="el" sz="1100">
                <a:solidFill>
                  <a:schemeClr val="dk1"/>
                </a:solidFill>
              </a:rPr>
              <a:t>Οπτικοποίηση πόλεων, αεροδρομίου και συνδέσεων.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l" sz="1300">
                <a:solidFill>
                  <a:schemeClr val="dk1"/>
                </a:solidFill>
              </a:rPr>
              <a:t>• </a:t>
            </a:r>
            <a:r>
              <a:rPr b="1" lang="el" sz="1300" u="sng">
                <a:solidFill>
                  <a:schemeClr val="dk1"/>
                </a:solidFill>
              </a:rPr>
              <a:t>Γενικός Κώδικας:</a:t>
            </a:r>
            <a:endParaRPr b="1" sz="1300" u="sng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➔"/>
            </a:pPr>
            <a:r>
              <a:rPr lang="el" sz="1100">
                <a:solidFill>
                  <a:schemeClr val="dk1"/>
                </a:solidFill>
              </a:rPr>
              <a:t>Ξεχωριστές συναρτήσεις για κόστος, αναζήτηση και σχεδίαση.</a:t>
            </a:r>
            <a:endParaRPr sz="1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Στάδιο Γ</a:t>
            </a:r>
            <a:endParaRPr/>
          </a:p>
        </p:txBody>
      </p:sp>
      <p:sp>
        <p:nvSpPr>
          <p:cNvPr id="101" name="Google Shape;101;p19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l" sz="1300">
                <a:solidFill>
                  <a:schemeClr val="dk1"/>
                </a:solidFill>
              </a:rPr>
              <a:t>• </a:t>
            </a:r>
            <a:r>
              <a:rPr b="1" lang="el" sz="1100" u="sng">
                <a:solidFill>
                  <a:schemeClr val="dk1"/>
                </a:solidFill>
              </a:rPr>
              <a:t>Χρήση νέου αλγορίθμου</a:t>
            </a:r>
            <a:endParaRPr b="1" sz="1100" u="sng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➔"/>
            </a:pPr>
            <a:r>
              <a:rPr lang="el" sz="1100">
                <a:solidFill>
                  <a:schemeClr val="dk1"/>
                </a:solidFill>
              </a:rPr>
              <a:t>Χρήση genetic algorithm για νέα επίλυση 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None/>
            </a:pPr>
            <a:r>
              <a:rPr b="1" lang="el" sz="1300">
                <a:solidFill>
                  <a:schemeClr val="dk1"/>
                </a:solidFill>
              </a:rPr>
              <a:t>• </a:t>
            </a:r>
            <a:r>
              <a:rPr b="1" lang="el" sz="1100" u="sng">
                <a:solidFill>
                  <a:schemeClr val="dk1"/>
                </a:solidFill>
              </a:rPr>
              <a:t>Split χάρτη:</a:t>
            </a:r>
            <a:endParaRPr b="1" sz="1100" u="sng"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➔"/>
            </a:pPr>
            <a:r>
              <a:rPr lang="el" sz="1100">
                <a:solidFill>
                  <a:schemeClr val="dk1"/>
                </a:solidFill>
              </a:rPr>
              <a:t>Υπάρχει χωρισμός μεταξύ των πόλεων και τον κοντινότερων αεροδρομίων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02" name="Google Shape;102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3425" y="1152475"/>
            <a:ext cx="4088324" cy="341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Στάδιο Γ</a:t>
            </a:r>
            <a:endParaRPr/>
          </a:p>
        </p:txBody>
      </p:sp>
      <p:sp>
        <p:nvSpPr>
          <p:cNvPr id="108" name="Google Shape;108;p20"/>
          <p:cNvSpPr txBox="1"/>
          <p:nvPr>
            <p:ph idx="1" type="body"/>
          </p:nvPr>
        </p:nvSpPr>
        <p:spPr>
          <a:xfrm>
            <a:off x="311700" y="1152475"/>
            <a:ext cx="8639100" cy="814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l"/>
              <a:t>Χρειάστηκαν λίγα iterations για </a:t>
            </a:r>
            <a:r>
              <a:rPr lang="el"/>
              <a:t>convergence</a:t>
            </a:r>
            <a:r>
              <a:rPr lang="el"/>
              <a:t>.</a:t>
            </a:r>
            <a:endParaRPr/>
          </a:p>
        </p:txBody>
      </p:sp>
      <p:pic>
        <p:nvPicPr>
          <p:cNvPr id="109" name="Google Shape;109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55692" y="2088975"/>
            <a:ext cx="6032609" cy="2915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1"/>
          <p:cNvSpPr/>
          <p:nvPr/>
        </p:nvSpPr>
        <p:spPr>
          <a:xfrm>
            <a:off x="4199625" y="2026950"/>
            <a:ext cx="3838500" cy="8265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Στάδιο Δ</a:t>
            </a:r>
            <a:endParaRPr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l" sz="1500">
                <a:solidFill>
                  <a:srgbClr val="17202A"/>
                </a:solidFill>
              </a:rPr>
              <a:t>Το στάδιο Δ γενικεύει το πρόβλημα: n πόλεις, m αεροδρόμια, πληθυσμοί και δυναμική ανάθεση κάθε πόλης στο κοντινότερο αεροδρόμιο.</a:t>
            </a:r>
            <a:endParaRPr sz="1500">
              <a:solidFill>
                <a:srgbClr val="17202A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17202A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17202A"/>
              </a:solidFill>
            </a:endParaRPr>
          </a:p>
          <a:p>
            <a:pPr indent="-31432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7202A"/>
              </a:buClr>
              <a:buSzPct val="100000"/>
              <a:buAutoNum type="arabicPeriod"/>
            </a:pPr>
            <a:r>
              <a:rPr lang="el" sz="1500">
                <a:solidFill>
                  <a:srgbClr val="17202A"/>
                </a:solidFill>
              </a:rPr>
              <a:t>Δεδομένα</a:t>
            </a:r>
            <a:r>
              <a:rPr lang="el" sz="1500">
                <a:solidFill>
                  <a:srgbClr val="17202A"/>
                </a:solidFill>
              </a:rPr>
              <a:t> </a:t>
            </a:r>
            <a:endParaRPr sz="1500">
              <a:solidFill>
                <a:srgbClr val="17202A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l" sz="1100">
                <a:solidFill>
                  <a:srgbClr val="5C6670"/>
                </a:solidFill>
              </a:rPr>
              <a:t>τυχαίες πόλεις και πληθυσμοί</a:t>
            </a:r>
            <a:r>
              <a:rPr lang="el" sz="1500">
                <a:solidFill>
                  <a:srgbClr val="17202A"/>
                </a:solidFill>
              </a:rPr>
              <a:t>   </a:t>
            </a:r>
            <a:endParaRPr sz="1500">
              <a:solidFill>
                <a:srgbClr val="17202A"/>
              </a:solidFill>
            </a:endParaRPr>
          </a:p>
          <a:p>
            <a:pPr indent="-31432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7202A"/>
              </a:buClr>
              <a:buSzPct val="100000"/>
              <a:buAutoNum type="arabicPeriod"/>
            </a:pPr>
            <a:r>
              <a:rPr lang="el" sz="1500">
                <a:solidFill>
                  <a:srgbClr val="17202A"/>
                </a:solidFill>
              </a:rPr>
              <a:t> PSO</a:t>
            </a:r>
            <a:endParaRPr sz="1500">
              <a:solidFill>
                <a:srgbClr val="17202A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l" sz="1100">
                <a:solidFill>
                  <a:srgbClr val="5C6670"/>
                </a:solidFill>
              </a:rPr>
              <a:t>σωματίδια στον χώρο λύσεων</a:t>
            </a:r>
            <a:endParaRPr sz="1500">
              <a:solidFill>
                <a:srgbClr val="17202A"/>
              </a:solidFill>
            </a:endParaRPr>
          </a:p>
          <a:p>
            <a:pPr indent="-31432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7202A"/>
              </a:buClr>
              <a:buSzPct val="100000"/>
              <a:buAutoNum type="arabicPeriod"/>
            </a:pPr>
            <a:r>
              <a:rPr lang="el" sz="1500">
                <a:solidFill>
                  <a:srgbClr val="17202A"/>
                </a:solidFill>
              </a:rPr>
              <a:t>Genetic Algorithm</a:t>
            </a:r>
            <a:endParaRPr sz="1500">
              <a:solidFill>
                <a:srgbClr val="17202A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l" sz="1100">
                <a:solidFill>
                  <a:srgbClr val="5C6670"/>
                </a:solidFill>
              </a:rPr>
              <a:t>χρωμοσώματα και γενιές</a:t>
            </a:r>
            <a:endParaRPr sz="1500">
              <a:solidFill>
                <a:srgbClr val="17202A"/>
              </a:solidFill>
            </a:endParaRPr>
          </a:p>
          <a:p>
            <a:pPr indent="-314325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7202A"/>
              </a:buClr>
              <a:buSzPct val="100000"/>
              <a:buAutoNum type="arabicPeriod"/>
            </a:pPr>
            <a:r>
              <a:rPr lang="el" sz="1500">
                <a:solidFill>
                  <a:srgbClr val="17202A"/>
                </a:solidFill>
              </a:rPr>
              <a:t>Σύγκριση </a:t>
            </a:r>
            <a:endParaRPr sz="1500">
              <a:solidFill>
                <a:srgbClr val="17202A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l" sz="1100">
                <a:solidFill>
                  <a:srgbClr val="5C6670"/>
                </a:solidFill>
              </a:rPr>
              <a:t>             κόστος, χρόνος, σύγκλιση</a:t>
            </a:r>
            <a:endParaRPr sz="1100">
              <a:solidFill>
                <a:srgbClr val="5C6670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l" sz="1500">
                <a:solidFill>
                  <a:srgbClr val="17202A"/>
                </a:solidFill>
              </a:rPr>
              <a:t>  </a:t>
            </a:r>
            <a:endParaRPr sz="1500">
              <a:solidFill>
                <a:srgbClr val="17202A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5C667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5C667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5C667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5C667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5C667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rgbClr val="5C6670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17202A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5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50"/>
          </a:p>
        </p:txBody>
      </p:sp>
      <p:sp>
        <p:nvSpPr>
          <p:cNvPr id="116" name="Google Shape;116;p21"/>
          <p:cNvSpPr txBox="1"/>
          <p:nvPr>
            <p:ph idx="1" type="body"/>
          </p:nvPr>
        </p:nvSpPr>
        <p:spPr>
          <a:xfrm>
            <a:off x="311700" y="1152475"/>
            <a:ext cx="1619100" cy="35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17202A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17202A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3333"/>
              <a:buFont typeface="Arial"/>
              <a:buNone/>
            </a:pPr>
            <a:r>
              <a:t/>
            </a:r>
            <a:endParaRPr sz="1500">
              <a:solidFill>
                <a:srgbClr val="17202A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l"/>
              <a:t> </a:t>
            </a:r>
            <a:endParaRPr/>
          </a:p>
        </p:txBody>
      </p:sp>
      <p:sp>
        <p:nvSpPr>
          <p:cNvPr id="117" name="Google Shape;117;p21"/>
          <p:cNvSpPr txBox="1"/>
          <p:nvPr/>
        </p:nvSpPr>
        <p:spPr>
          <a:xfrm>
            <a:off x="4188750" y="2016075"/>
            <a:ext cx="4067100" cy="167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l" sz="1200">
                <a:solidFill>
                  <a:srgbClr val="4A3B12"/>
                </a:solidFill>
              </a:rPr>
              <a:t>Η σύγκριση έχει νόημα μόνο επειδή οι δύο αλγόριθμοι τρέχουν στο ίδιο σύνολο πόλεων και με την ίδια συνάρτηση κόστους.</a:t>
            </a:r>
            <a:endParaRPr i="1" sz="1200">
              <a:solidFill>
                <a:srgbClr val="4A3B1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PSO και Genetic Algorithm</a:t>
            </a:r>
            <a:endParaRPr/>
          </a:p>
        </p:txBody>
      </p:sp>
      <p:sp>
        <p:nvSpPr>
          <p:cNvPr id="123" name="Google Shape;123;p22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effectLst>
            <a:reflection blurRad="0" dir="5400000" dist="38100" endA="0" fadeDir="5400012" kx="0" rotWithShape="0" algn="bl" stPos="0" sy="-100000" ky="0"/>
          </a:effectLst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l" sz="1500">
                <a:solidFill>
                  <a:srgbClr val="2F5597"/>
                </a:solidFill>
              </a:rPr>
              <a:t>Particle Swarm Optimization</a:t>
            </a:r>
            <a:endParaRPr b="1" sz="1500">
              <a:solidFill>
                <a:srgbClr val="2F5597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50">
              <a:solidFill>
                <a:srgbClr val="17202A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l" sz="1450">
                <a:solidFill>
                  <a:srgbClr val="17202A"/>
                </a:solidFill>
              </a:rPr>
              <a:t>• κάθε υποψήφια λύση είναι σωματίδιο</a:t>
            </a:r>
            <a:endParaRPr sz="1450">
              <a:solidFill>
                <a:srgbClr val="17202A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l" sz="1450">
                <a:solidFill>
                  <a:srgbClr val="17202A"/>
                </a:solidFill>
              </a:rPr>
              <a:t>• κρατά προσωπική καλύτερη θέση</a:t>
            </a:r>
            <a:endParaRPr sz="1450">
              <a:solidFill>
                <a:srgbClr val="17202A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l" sz="1450">
                <a:solidFill>
                  <a:srgbClr val="17202A"/>
                </a:solidFill>
              </a:rPr>
              <a:t>• ακολουθεί την καλύτερη λύση του σμήνους</a:t>
            </a:r>
            <a:endParaRPr sz="1450">
              <a:solidFill>
                <a:srgbClr val="17202A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l" sz="1450">
                <a:solidFill>
                  <a:srgbClr val="17202A"/>
                </a:solidFill>
              </a:rPr>
              <a:t>• λίγες παράμετροι, γρήγορη σύγκλιση</a:t>
            </a:r>
            <a:endParaRPr sz="1450">
              <a:solidFill>
                <a:srgbClr val="17202A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22"/>
          <p:cNvSpPr txBox="1"/>
          <p:nvPr>
            <p:ph idx="2" type="body"/>
          </p:nvPr>
        </p:nvSpPr>
        <p:spPr>
          <a:xfrm>
            <a:off x="5125050" y="1152475"/>
            <a:ext cx="3707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l" sz="1500">
                <a:solidFill>
                  <a:srgbClr val="D9480F"/>
                </a:solidFill>
              </a:rPr>
              <a:t>Genetic Algorithm</a:t>
            </a:r>
            <a:endParaRPr b="1" sz="1500">
              <a:solidFill>
                <a:srgbClr val="D9480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50">
              <a:solidFill>
                <a:srgbClr val="17202A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 sz="1450">
                <a:solidFill>
                  <a:srgbClr val="17202A"/>
                </a:solidFill>
              </a:rPr>
              <a:t>• κάθε υποψήφια λύση είναι chromosome</a:t>
            </a:r>
            <a:endParaRPr sz="1450">
              <a:solidFill>
                <a:srgbClr val="17202A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 sz="1450">
                <a:solidFill>
                  <a:srgbClr val="17202A"/>
                </a:solidFill>
              </a:rPr>
              <a:t>• selection των καλύτερων λύσεων</a:t>
            </a:r>
            <a:endParaRPr sz="1450">
              <a:solidFill>
                <a:srgbClr val="17202A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 sz="1450">
                <a:solidFill>
                  <a:srgbClr val="17202A"/>
                </a:solidFill>
              </a:rPr>
              <a:t>• crosso για νέους συνδυασμούς</a:t>
            </a:r>
            <a:endParaRPr sz="1450">
              <a:solidFill>
                <a:srgbClr val="17202A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 sz="1450">
                <a:solidFill>
                  <a:srgbClr val="17202A"/>
                </a:solidFill>
              </a:rPr>
              <a:t>• mutation για αποφυγή τοπικών ελαχίστων</a:t>
            </a:r>
            <a:endParaRPr sz="1450">
              <a:solidFill>
                <a:srgbClr val="17202A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rgbClr val="D9480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25" name="Google Shape;125;p22"/>
          <p:cNvSpPr txBox="1"/>
          <p:nvPr/>
        </p:nvSpPr>
        <p:spPr>
          <a:xfrm>
            <a:off x="916600" y="3584900"/>
            <a:ext cx="6665100" cy="98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l" sz="1300">
                <a:solidFill>
                  <a:srgbClr val="4A3B12"/>
                </a:solidFill>
              </a:rPr>
              <a:t>Πρακτικά: ο PSO εκμεταλλεύεται γρήγορα την καλύτερη λύση, ενώ ο Genetic εξερευνά περισσότερο τον χώρο</a:t>
            </a:r>
            <a:r>
              <a:rPr lang="el" sz="1100">
                <a:solidFill>
                  <a:schemeClr val="dk1"/>
                </a:solidFill>
              </a:rPr>
              <a:t> 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3"/>
          <p:cNvSpPr txBox="1"/>
          <p:nvPr/>
        </p:nvSpPr>
        <p:spPr>
          <a:xfrm>
            <a:off x="387800" y="312875"/>
            <a:ext cx="8163600" cy="881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l" sz="2400">
                <a:solidFill>
                  <a:schemeClr val="dk1"/>
                </a:solidFill>
              </a:rPr>
              <a:t> Αποτελέσματα Δ - σύγκλιση PSO vs Genetic</a:t>
            </a:r>
            <a:endParaRPr b="1" sz="2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31" name="Google Shape;131;p23"/>
          <p:cNvSpPr txBox="1"/>
          <p:nvPr/>
        </p:nvSpPr>
        <p:spPr>
          <a:xfrm>
            <a:off x="376775" y="995925"/>
            <a:ext cx="82626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 sz="1750">
                <a:solidFill>
                  <a:srgbClr val="5C6670"/>
                </a:solidFill>
              </a:rPr>
              <a:t>Ενδεικτική εκτέλεση: 20 πόλεις, 6 αεροδρόμια, 100 επαναλήψεις, ίδιο σύνολο δεδομένων</a:t>
            </a:r>
            <a:r>
              <a:rPr lang="el" sz="1100">
                <a:solidFill>
                  <a:schemeClr val="dk1"/>
                </a:solidFill>
              </a:rPr>
              <a:t> 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132" name="Google Shape;132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787425"/>
            <a:ext cx="5137900" cy="3468075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23"/>
          <p:cNvSpPr txBox="1"/>
          <p:nvPr/>
        </p:nvSpPr>
        <p:spPr>
          <a:xfrm>
            <a:off x="5764025" y="1767100"/>
            <a:ext cx="2423700" cy="1134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l" sz="2600">
                <a:solidFill>
                  <a:srgbClr val="2F5597"/>
                </a:solidFill>
              </a:rPr>
              <a:t>96.9M</a:t>
            </a:r>
            <a:endParaRPr b="1" sz="2600">
              <a:solidFill>
                <a:srgbClr val="2F5597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l" sz="1350">
                <a:solidFill>
                  <a:srgbClr val="5C6670"/>
                </a:solidFill>
              </a:rPr>
              <a:t>τελικό PSO</a:t>
            </a:r>
            <a:endParaRPr sz="1350">
              <a:solidFill>
                <a:srgbClr val="5C667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34" name="Google Shape;134;p23"/>
          <p:cNvSpPr txBox="1"/>
          <p:nvPr/>
        </p:nvSpPr>
        <p:spPr>
          <a:xfrm>
            <a:off x="5786050" y="3078125"/>
            <a:ext cx="1718700" cy="1013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l" sz="2600">
                <a:solidFill>
                  <a:srgbClr val="D9480F"/>
                </a:solidFill>
              </a:rPr>
              <a:t>89M</a:t>
            </a:r>
            <a:endParaRPr b="1" sz="2600">
              <a:solidFill>
                <a:srgbClr val="D9480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l" sz="1350">
                <a:solidFill>
                  <a:srgbClr val="5C6670"/>
                </a:solidFill>
              </a:rPr>
              <a:t>τελικό Genetic</a:t>
            </a:r>
            <a:endParaRPr sz="1350">
              <a:solidFill>
                <a:srgbClr val="5C6670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35" name="Google Shape;135;p23"/>
          <p:cNvSpPr txBox="1"/>
          <p:nvPr/>
        </p:nvSpPr>
        <p:spPr>
          <a:xfrm>
            <a:off x="5775050" y="4102675"/>
            <a:ext cx="2776500" cy="8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l" sz="1200">
                <a:solidFill>
                  <a:srgbClr val="4A3B12"/>
                </a:solidFill>
              </a:rPr>
              <a:t>Σε αυτή την εκτέλεση ο PSO πέφτει γρήγορα, αλλά ο Genetic καταλήγει σε μικρότερο κόστος.</a:t>
            </a:r>
            <a:endParaRPr i="1" sz="1200">
              <a:solidFill>
                <a:srgbClr val="4A3B1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ln cap="flat" cmpd="sng" w="9525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l" sz="2600"/>
              <a:t>Ποιότητα λύσης και χρόνος</a:t>
            </a:r>
            <a:r>
              <a:rPr lang="el" sz="1100"/>
              <a:t> </a:t>
            </a:r>
            <a:endParaRPr/>
          </a:p>
        </p:txBody>
      </p:sp>
      <p:sp>
        <p:nvSpPr>
          <p:cNvPr id="141" name="Google Shape;141;p24"/>
          <p:cNvSpPr txBox="1"/>
          <p:nvPr/>
        </p:nvSpPr>
        <p:spPr>
          <a:xfrm>
            <a:off x="321700" y="1095075"/>
            <a:ext cx="8229600" cy="517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l" sz="1800">
                <a:solidFill>
                  <a:srgbClr val="17202A"/>
                </a:solidFill>
              </a:rPr>
              <a:t>Η τελική επιλογή δεν εξαρτάται μόνο από το κόστος, αλλά και από τον χρόνο εκτέλεσης.</a:t>
            </a:r>
            <a:endParaRPr sz="1800">
              <a:solidFill>
                <a:srgbClr val="17202A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42" name="Google Shape;142;p24"/>
          <p:cNvSpPr txBox="1"/>
          <p:nvPr/>
        </p:nvSpPr>
        <p:spPr>
          <a:xfrm>
            <a:off x="431850" y="2042525"/>
            <a:ext cx="3867000" cy="190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l" sz="1600">
                <a:solidFill>
                  <a:srgbClr val="17202A"/>
                </a:solidFill>
              </a:rPr>
              <a:t>• Ο PSO είναι πολύ ταχύτερος.</a:t>
            </a:r>
            <a:endParaRPr sz="1600">
              <a:solidFill>
                <a:srgbClr val="17202A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l" sz="1600">
                <a:solidFill>
                  <a:srgbClr val="17202A"/>
                </a:solidFill>
              </a:rPr>
              <a:t>• Ο Genetic έδωσε καλύτερο κόστος στην ενδεικτική εκτέλεση.</a:t>
            </a:r>
            <a:endParaRPr sz="1600">
              <a:solidFill>
                <a:srgbClr val="17202A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l" sz="1600">
                <a:solidFill>
                  <a:srgbClr val="17202A"/>
                </a:solidFill>
              </a:rPr>
              <a:t>• Άρα υπάρχει trade-off ανάμεσα σε χρόνο και ποιότητα.</a:t>
            </a:r>
            <a:endParaRPr sz="1600">
              <a:solidFill>
                <a:srgbClr val="17202A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l" sz="2600"/>
              <a:t>Παραδοχές, όρια και αξιοπιστία</a:t>
            </a:r>
            <a:r>
              <a:rPr lang="el" sz="1100"/>
              <a:t> </a:t>
            </a:r>
            <a:endParaRPr/>
          </a:p>
        </p:txBody>
      </p:sp>
      <p:sp>
        <p:nvSpPr>
          <p:cNvPr id="148" name="Google Shape;148;p25"/>
          <p:cNvSpPr txBox="1"/>
          <p:nvPr/>
        </p:nvSpPr>
        <p:spPr>
          <a:xfrm>
            <a:off x="398800" y="1381525"/>
            <a:ext cx="2247600" cy="178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l" sz="1700">
                <a:solidFill>
                  <a:srgbClr val="2F5597"/>
                </a:solidFill>
              </a:rPr>
              <a:t>Παραδοχές</a:t>
            </a:r>
            <a:endParaRPr b="1" sz="1700">
              <a:solidFill>
                <a:srgbClr val="2F5597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l" sz="1450">
                <a:solidFill>
                  <a:srgbClr val="17202A"/>
                </a:solidFill>
              </a:rPr>
              <a:t>• ευκλείδεια απόσταση σε 2D χώρο</a:t>
            </a:r>
            <a:endParaRPr sz="1450">
              <a:solidFill>
                <a:srgbClr val="17202A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l" sz="1450">
                <a:solidFill>
                  <a:srgbClr val="17202A"/>
                </a:solidFill>
              </a:rPr>
              <a:t>• τυχαία δημιουργία πόλεων στο Δ</a:t>
            </a:r>
            <a:endParaRPr sz="1450">
              <a:solidFill>
                <a:srgbClr val="17202A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l" sz="1450">
                <a:solidFill>
                  <a:srgbClr val="17202A"/>
                </a:solidFill>
              </a:rPr>
              <a:t>• κόστος ανάλογο με πληθυσμό και απόσταση</a:t>
            </a:r>
            <a:endParaRPr sz="1450">
              <a:solidFill>
                <a:srgbClr val="17202A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49" name="Google Shape;149;p25"/>
          <p:cNvSpPr txBox="1"/>
          <p:nvPr/>
        </p:nvSpPr>
        <p:spPr>
          <a:xfrm>
            <a:off x="3472525" y="1381525"/>
            <a:ext cx="2192400" cy="191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l" sz="1700">
                <a:solidFill>
                  <a:srgbClr val="D9480F"/>
                </a:solidFill>
              </a:rPr>
              <a:t>Περιορισμοί</a:t>
            </a:r>
            <a:endParaRPr b="1" sz="1700">
              <a:solidFill>
                <a:srgbClr val="D9480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l">
                <a:solidFill>
                  <a:srgbClr val="17202A"/>
                </a:solidFill>
              </a:rPr>
              <a:t>• οι αλγόριθμοι είναι στοχαστικοί</a:t>
            </a:r>
            <a:endParaRPr>
              <a:solidFill>
                <a:srgbClr val="17202A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l">
                <a:solidFill>
                  <a:srgbClr val="17202A"/>
                </a:solidFill>
              </a:rPr>
              <a:t>• διαφορετικό seed μπορεί να δώσει άλλη λύση</a:t>
            </a:r>
            <a:endParaRPr>
              <a:solidFill>
                <a:srgbClr val="17202A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l">
                <a:solidFill>
                  <a:srgbClr val="17202A"/>
                </a:solidFill>
              </a:rPr>
              <a:t>• δεν λαμβάνονται υπόψη πραγματικοί γεωγραφικοί περιορισμοί</a:t>
            </a:r>
            <a:endParaRPr>
              <a:solidFill>
                <a:srgbClr val="17202A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700">
              <a:solidFill>
                <a:srgbClr val="D9480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50" name="Google Shape;150;p25"/>
          <p:cNvSpPr txBox="1"/>
          <p:nvPr/>
        </p:nvSpPr>
        <p:spPr>
          <a:xfrm>
            <a:off x="6513175" y="1381525"/>
            <a:ext cx="2192400" cy="214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l" sz="1700">
                <a:solidFill>
                  <a:srgbClr val="2B8A3E"/>
                </a:solidFill>
              </a:rPr>
              <a:t>Αξιοπιστία</a:t>
            </a:r>
            <a:endParaRPr b="1" sz="1700">
              <a:solidFill>
                <a:srgbClr val="2B8A3E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l" sz="1450">
                <a:solidFill>
                  <a:srgbClr val="17202A"/>
                </a:solidFill>
              </a:rPr>
              <a:t>• ίδια συνάρτηση κόστους για σύγκριση</a:t>
            </a:r>
            <a:endParaRPr sz="1450">
              <a:solidFill>
                <a:srgbClr val="17202A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l" sz="1450">
                <a:solidFill>
                  <a:srgbClr val="17202A"/>
                </a:solidFill>
              </a:rPr>
              <a:t>• ίδια δεδομένα για PSO και Genetic</a:t>
            </a:r>
            <a:endParaRPr sz="1450">
              <a:solidFill>
                <a:srgbClr val="17202A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l" sz="1450">
                <a:solidFill>
                  <a:srgbClr val="17202A"/>
                </a:solidFill>
              </a:rPr>
              <a:t>• καταγραφή convergence και χρόνου</a:t>
            </a:r>
            <a:endParaRPr sz="1450">
              <a:solidFill>
                <a:srgbClr val="17202A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700">
              <a:solidFill>
                <a:srgbClr val="2B8A3E"/>
              </a:solidFill>
            </a:endParaRPr>
          </a:p>
        </p:txBody>
      </p:sp>
      <p:sp>
        <p:nvSpPr>
          <p:cNvPr id="151" name="Google Shape;151;p25"/>
          <p:cNvSpPr txBox="1"/>
          <p:nvPr/>
        </p:nvSpPr>
        <p:spPr>
          <a:xfrm>
            <a:off x="652200" y="4168775"/>
            <a:ext cx="7755900" cy="837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i="1">
              <a:solidFill>
                <a:srgbClr val="4A3B1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Τελικό συμπέρασμα</a:t>
            </a:r>
            <a:endParaRPr/>
          </a:p>
        </p:txBody>
      </p:sp>
      <p:sp>
        <p:nvSpPr>
          <p:cNvPr id="157" name="Google Shape;157;p26"/>
          <p:cNvSpPr txBox="1"/>
          <p:nvPr/>
        </p:nvSpPr>
        <p:spPr>
          <a:xfrm>
            <a:off x="311700" y="1117100"/>
            <a:ext cx="7568700" cy="694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l" sz="1600">
                <a:solidFill>
                  <a:srgbClr val="17202A"/>
                </a:solidFill>
              </a:rPr>
              <a:t>Η εργασία προχωρά από απλή χωροθέτηση ενός αεροδρομίου σε γενική βελτιστοποίηση δικτύου αεροδρομίων.</a:t>
            </a:r>
            <a:endParaRPr b="1" sz="1600">
              <a:solidFill>
                <a:srgbClr val="17202A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600">
              <a:solidFill>
                <a:srgbClr val="17202A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 sz="1600">
              <a:solidFill>
                <a:srgbClr val="17202A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158" name="Google Shape;158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963700"/>
            <a:ext cx="8839203" cy="2432071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26"/>
          <p:cNvSpPr txBox="1"/>
          <p:nvPr/>
        </p:nvSpPr>
        <p:spPr>
          <a:xfrm>
            <a:off x="542025" y="4609450"/>
            <a:ext cx="7877100" cy="37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60" name="Google Shape;160;p26"/>
          <p:cNvSpPr txBox="1"/>
          <p:nvPr/>
        </p:nvSpPr>
        <p:spPr>
          <a:xfrm>
            <a:off x="387800" y="4609450"/>
            <a:ext cx="8119500" cy="53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i="1" lang="el" sz="1300">
                <a:solidFill>
                  <a:srgbClr val="4A3B12"/>
                </a:solidFill>
              </a:rPr>
              <a:t>Συμπέρασμα: ο PSO είναι πολύ αποδοτικός όταν προτεραιότητα είναι η ταχύτητα, ενώ ο Genetic Algorithm είναι ισχυρή εναλλακτική όταν θέλουμε καλύτερη εξερεύνηση του χώρου λύσεων.</a:t>
            </a:r>
            <a:endParaRPr i="1" sz="1300">
              <a:solidFill>
                <a:srgbClr val="4A3B1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Visualisation</a:t>
            </a:r>
            <a:endParaRPr/>
          </a:p>
        </p:txBody>
      </p:sp>
      <p:sp>
        <p:nvSpPr>
          <p:cNvPr id="166" name="Google Shape;166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2105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630"/>
              <a:buChar char="●"/>
            </a:pPr>
            <a:r>
              <a:rPr b="1" lang="el" sz="1630"/>
              <a:t>Κεντρική Συνάρτηση</a:t>
            </a:r>
            <a:r>
              <a:rPr lang="el" sz="1630"/>
              <a:t> (plot_airport_system)</a:t>
            </a:r>
            <a:r>
              <a:rPr b="1" lang="el" sz="1630"/>
              <a:t>:</a:t>
            </a:r>
            <a:r>
              <a:rPr lang="el" sz="1630"/>
              <a:t> Ενιαίος κώδικας σχεδίασης για όλα τα Στάδια (Α, Β, Γ, Δ).</a:t>
            </a:r>
            <a:endParaRPr sz="1630"/>
          </a:p>
          <a:p>
            <a:pPr indent="-332105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630"/>
              <a:buChar char="●"/>
            </a:pPr>
            <a:r>
              <a:rPr b="1" lang="el" sz="1630"/>
              <a:t>Γεωμετρικά Σύνορα Voronoi:</a:t>
            </a:r>
            <a:r>
              <a:rPr lang="el" sz="1630"/>
              <a:t> Αυτόματος χωρικός διαχωρισμός σε έγχρωμες ζώνες.</a:t>
            </a:r>
            <a:endParaRPr sz="1630"/>
          </a:p>
          <a:p>
            <a:pPr indent="-332105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630"/>
              <a:buChar char="●"/>
            </a:pPr>
            <a:r>
              <a:rPr b="1" lang="el" sz="1630"/>
              <a:t>Δυναμική Κλιμάκωση:</a:t>
            </a:r>
            <a:r>
              <a:rPr lang="el" sz="1630"/>
              <a:t> Αυτόματη προσαρμογή του μεγέθους των πόλεων με βάση τον πληθυσμό τους.</a:t>
            </a:r>
            <a:endParaRPr sz="1630"/>
          </a:p>
          <a:p>
            <a:pPr indent="-332105" lvl="0" marL="4572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630"/>
              <a:buChar char="●"/>
            </a:pPr>
            <a:r>
              <a:rPr b="1" lang="el" sz="1630"/>
              <a:t>Οπτική Καθαρότητα &amp; UX:</a:t>
            </a:r>
            <a:r>
              <a:rPr lang="el" sz="1630"/>
              <a:t> Σταθερή αναλογία άξονα (Aspect Ratio 1:1) για αποφυγή παραμορφώσεων.</a:t>
            </a:r>
            <a:endParaRPr sz="1630"/>
          </a:p>
          <a:p>
            <a:pPr indent="-310515" lvl="1" marL="91440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290"/>
              <a:buChar char="○"/>
            </a:pPr>
            <a:r>
              <a:rPr lang="el" sz="1630"/>
              <a:t>Χρήση της adjustText για την εξάλειψη επικαλύψεων ανάμεσα σε ετικέτες και markers.</a:t>
            </a:r>
            <a:endParaRPr sz="1630"/>
          </a:p>
          <a:p>
            <a:pPr indent="0" lvl="0" marL="91440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935"/>
              <a:buNone/>
            </a:pPr>
            <a:r>
              <a:t/>
            </a:r>
            <a:endParaRPr sz="1630"/>
          </a:p>
          <a:p>
            <a:pPr indent="0" lvl="0" marL="0" rtl="0" algn="l">
              <a:lnSpc>
                <a:spcPct val="105000"/>
              </a:lnSpc>
              <a:spcBef>
                <a:spcPts val="1200"/>
              </a:spcBef>
              <a:spcAft>
                <a:spcPts val="0"/>
              </a:spcAft>
              <a:buSzPts val="935"/>
              <a:buNone/>
            </a:pPr>
            <a:r>
              <a:t/>
            </a:r>
            <a:endParaRPr sz="1630"/>
          </a:p>
          <a:p>
            <a:pPr indent="0" lvl="0" marL="457200" rtl="0" algn="l">
              <a:lnSpc>
                <a:spcPct val="105000"/>
              </a:lnSpc>
              <a:spcBef>
                <a:spcPts val="1200"/>
              </a:spcBef>
              <a:spcAft>
                <a:spcPts val="1200"/>
              </a:spcAft>
              <a:buSzPts val="935"/>
              <a:buNone/>
            </a:pPr>
            <a:r>
              <a:t/>
            </a:r>
            <a:endParaRPr sz="163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Visualisation (Interactive UI)</a:t>
            </a:r>
            <a:endParaRPr/>
          </a:p>
        </p:txBody>
      </p:sp>
      <p:sp>
        <p:nvSpPr>
          <p:cNvPr id="172" name="Google Shape;172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210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630"/>
              <a:buChar char="●"/>
            </a:pPr>
            <a:r>
              <a:rPr b="1" lang="el" sz="1630"/>
              <a:t>Συνάρτηση (</a:t>
            </a:r>
            <a:r>
              <a:rPr lang="el" sz="1630"/>
              <a:t>plot_interactive_dashboard)</a:t>
            </a:r>
            <a:r>
              <a:rPr b="1" lang="el" sz="1630"/>
              <a:t>: </a:t>
            </a:r>
            <a:r>
              <a:rPr lang="el" sz="1630"/>
              <a:t>Μετατροπή των αλγορίθμων σε ζωντανή προσομοίωση.</a:t>
            </a:r>
            <a:endParaRPr sz="1630"/>
          </a:p>
          <a:p>
            <a:pPr indent="-33210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630"/>
              <a:buChar char="●"/>
            </a:pPr>
            <a:r>
              <a:rPr b="1" lang="el" sz="1630"/>
              <a:t>Διαδραστικά Widgets της Matplotlib</a:t>
            </a:r>
            <a:r>
              <a:rPr lang="el" sz="1630"/>
              <a:t>:</a:t>
            </a:r>
            <a:endParaRPr sz="1630"/>
          </a:p>
          <a:p>
            <a:pPr indent="-332105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630"/>
              <a:buChar char="○"/>
            </a:pPr>
            <a:r>
              <a:rPr b="1" lang="el" sz="1630"/>
              <a:t>Slider</a:t>
            </a:r>
            <a:r>
              <a:rPr lang="el" sz="1630"/>
              <a:t>: Live μεταβολή του αριθμού των αεροδρομίων (m=1 έως 8).</a:t>
            </a:r>
            <a:endParaRPr sz="1630"/>
          </a:p>
          <a:p>
            <a:pPr indent="-332105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630"/>
              <a:buChar char="○"/>
            </a:pPr>
            <a:r>
              <a:rPr b="1" lang="el" sz="1630"/>
              <a:t>Radio Buttons</a:t>
            </a:r>
            <a:r>
              <a:rPr lang="el" sz="1630"/>
              <a:t>: Εναλλαγή μεταξύ PSO και Γενετικού Αλγορίθμου.</a:t>
            </a:r>
            <a:endParaRPr sz="1630"/>
          </a:p>
          <a:p>
            <a:pPr indent="-33210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630"/>
              <a:buChar char="●"/>
            </a:pPr>
            <a:r>
              <a:rPr b="1" lang="el" sz="1630"/>
              <a:t>Real-time Αναδιαμόρφωση</a:t>
            </a:r>
            <a:r>
              <a:rPr lang="el" sz="1630"/>
              <a:t> (Redraw)</a:t>
            </a:r>
            <a:r>
              <a:rPr b="1" lang="el" sz="1630"/>
              <a:t>: </a:t>
            </a:r>
            <a:r>
              <a:rPr lang="el" sz="1630"/>
              <a:t>Αλλαγή θέσης των αεροδρομίων και δυναμική επανασχεδίαση των συνόρων στην οθόνη.</a:t>
            </a:r>
            <a:endParaRPr sz="1630"/>
          </a:p>
          <a:p>
            <a:pPr indent="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630"/>
          </a:p>
          <a:p>
            <a:pPr indent="0" lvl="0" marL="9144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935"/>
              <a:buNone/>
            </a:pPr>
            <a:r>
              <a:t/>
            </a:r>
            <a:endParaRPr sz="163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935"/>
              <a:buNone/>
            </a:pPr>
            <a:r>
              <a:t/>
            </a:r>
            <a:endParaRPr sz="1630"/>
          </a:p>
          <a:p>
            <a:pPr indent="0" lvl="0" marL="45720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935"/>
              <a:buNone/>
            </a:pPr>
            <a:r>
              <a:t/>
            </a:r>
            <a:endParaRPr sz="163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Κώδικας &amp; Υπολογιστικές Βελτιστοποιήσεις</a:t>
            </a:r>
            <a:endParaRPr/>
          </a:p>
        </p:txBody>
      </p:sp>
      <p:sp>
        <p:nvSpPr>
          <p:cNvPr id="178" name="Google Shape;178;p2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210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630"/>
              <a:buChar char="●"/>
            </a:pPr>
            <a:r>
              <a:rPr b="1" lang="el" sz="1630"/>
              <a:t>Code clean-up:</a:t>
            </a:r>
            <a:r>
              <a:rPr lang="el" sz="1630"/>
              <a:t> Δημιουργία της εσωτερικής συνάρτησης( _compute_voronoi_grid) για την εξάλειψη διπλότυπου κώδικα.</a:t>
            </a:r>
            <a:endParaRPr sz="1630"/>
          </a:p>
          <a:p>
            <a:pPr indent="-33210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630"/>
              <a:buChar char="●"/>
            </a:pPr>
            <a:r>
              <a:rPr b="1" lang="el" sz="1630"/>
              <a:t>Αναβάθμιση του make_cities.py:</a:t>
            </a:r>
            <a:endParaRPr b="1" sz="1630"/>
          </a:p>
          <a:p>
            <a:pPr indent="-332105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630"/>
              <a:buChar char="○"/>
            </a:pPr>
            <a:r>
              <a:rPr lang="el" sz="1630"/>
              <a:t>    Εισαγωγή αλγορίθμου απόρριψης.</a:t>
            </a:r>
            <a:endParaRPr sz="1630"/>
          </a:p>
          <a:p>
            <a:pPr indent="-332105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630"/>
              <a:buChar char="○"/>
            </a:pPr>
            <a:r>
              <a:rPr lang="el" sz="1630"/>
              <a:t>    Περιορισμός ελάχιστης απόστασης (min_distance=45) για την αποφυγή σύμπτωσης και overlapping των πόλεων.</a:t>
            </a:r>
            <a:endParaRPr sz="1630"/>
          </a:p>
          <a:p>
            <a:pPr indent="0" lvl="0" marL="9144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935"/>
              <a:buNone/>
            </a:pPr>
            <a:r>
              <a:t/>
            </a:r>
            <a:endParaRPr sz="1630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935"/>
              <a:buNone/>
            </a:pPr>
            <a:r>
              <a:t/>
            </a:r>
            <a:endParaRPr sz="1630"/>
          </a:p>
          <a:p>
            <a:pPr indent="0" lvl="0" marL="45720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935"/>
              <a:buNone/>
            </a:pPr>
            <a:r>
              <a:t/>
            </a:r>
            <a:endParaRPr sz="163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l"/>
              <a:t>GitHub &amp; Docker</a:t>
            </a:r>
            <a:endParaRPr/>
          </a:p>
        </p:txBody>
      </p:sp>
      <p:sp>
        <p:nvSpPr>
          <p:cNvPr id="184" name="Google Shape;184;p3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210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630"/>
              <a:buChar char="●"/>
            </a:pPr>
            <a:r>
              <a:rPr b="1" lang="el" sz="1630"/>
              <a:t>Version Control με GitHub Desktop:</a:t>
            </a:r>
            <a:r>
              <a:rPr lang="el" sz="1630"/>
              <a:t> Κεντρικό repository για τον άμεσο συγχρονισμό και των 4 μελών της ομάδας.</a:t>
            </a:r>
            <a:endParaRPr sz="1630"/>
          </a:p>
          <a:p>
            <a:pPr indent="-33210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630"/>
              <a:buChar char="●"/>
            </a:pPr>
            <a:r>
              <a:rPr b="1" lang="el" sz="1630"/>
              <a:t>Στρατηγική Κλάδων</a:t>
            </a:r>
            <a:r>
              <a:rPr lang="el" sz="1630"/>
              <a:t> (Branching)</a:t>
            </a:r>
            <a:r>
              <a:rPr b="1" lang="el" sz="1630"/>
              <a:t>:</a:t>
            </a:r>
            <a:endParaRPr b="1" sz="1630"/>
          </a:p>
          <a:p>
            <a:pPr indent="-332105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630"/>
              <a:buChar char="○"/>
            </a:pPr>
            <a:r>
              <a:rPr lang="el" sz="1630"/>
              <a:t>Κλάδος main αποκλειστικά για σταθερό, λειτουργικό κώδικα.</a:t>
            </a:r>
            <a:endParaRPr sz="1630"/>
          </a:p>
          <a:p>
            <a:pPr indent="-332105" lvl="1" marL="9144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630"/>
              <a:buChar char="○"/>
            </a:pPr>
            <a:r>
              <a:rPr lang="el" sz="1630"/>
              <a:t>Ανεξάρτητοι κλάδοι (e.g., feature/visualization) για την ανάπτυξη νέων δυνατοτήτων.</a:t>
            </a:r>
            <a:endParaRPr sz="1630"/>
          </a:p>
          <a:p>
            <a:pPr indent="-33210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630"/>
              <a:buChar char="●"/>
            </a:pPr>
            <a:r>
              <a:rPr b="1" lang="el" sz="1630"/>
              <a:t>Pull Requests &amp; Code Integration</a:t>
            </a:r>
            <a:r>
              <a:rPr lang="el" sz="1630"/>
              <a:t>: Ελεγχόμενη συγχώνευση (Merge) κώδικα μετά από επιβεβαίωση της ομάδας.</a:t>
            </a:r>
            <a:endParaRPr sz="1630"/>
          </a:p>
          <a:p>
            <a:pPr indent="-332105" lvl="0" marL="45720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1630"/>
              <a:buChar char="●"/>
            </a:pPr>
            <a:r>
              <a:rPr b="1" lang="el" sz="1630"/>
              <a:t>Containerization</a:t>
            </a:r>
            <a:r>
              <a:rPr lang="el" sz="1630"/>
              <a:t> (Docker Environment)</a:t>
            </a:r>
            <a:r>
              <a:rPr b="1" lang="el" sz="1630"/>
              <a:t>:</a:t>
            </a:r>
            <a:r>
              <a:rPr lang="el" sz="1630"/>
              <a:t> Δημιουργία Dockerfile για αυτοματοποιημένη, sequential εκτέλεση όλων των σταδίων (Α -&gt; Β -&gt; Γ -&gt; Δ).</a:t>
            </a:r>
            <a:endParaRPr sz="1630"/>
          </a:p>
          <a:p>
            <a:pPr indent="0" lvl="0" marL="45720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935"/>
              <a:buNone/>
            </a:pPr>
            <a:r>
              <a:t/>
            </a:r>
            <a:endParaRPr sz="163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FEFEF"/>
        </a:solidFill>
      </p:bgPr>
    </p:bg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31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l" sz="2600"/>
              <a:t>Σας ευχαριστούμε για την προσοχή σας</a:t>
            </a:r>
            <a:endParaRPr sz="26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